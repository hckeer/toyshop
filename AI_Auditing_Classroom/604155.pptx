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9.xml.rels" ContentType="application/vnd.openxmlformats-package.relationships+xml"/>
  <Override PartName="/ppt/notesSlides/_rels/notesSlide6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61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
	<Relationship Id="rId1" Type="http://schemas.openxmlformats.org/officeDocument/2006/relationships/theme" Target="theme/theme1.xml"/>
	<Relationship Id="rId2" Type="http://schemas.openxmlformats.org/officeDocument/2006/relationships/slideMaster" Target="slideMasters/slideMaster1.xml"/>
	<Relationship Id="rId3" Type="http://schemas.openxmlformats.org/officeDocument/2006/relationships/notesMaster" Target="notesMasters/notesMaster1.xml"/>
	<Relationship Id="rId4" Type="http://schemas.openxmlformats.org/officeDocument/2006/relationships/slide" Target="slides/slide1.xml"/>
	<Relationship Id="rId5" Type="http://schemas.openxmlformats.org/officeDocument/2006/relationships/slide" Target="slides/slide2.xml"/>
	<Relationship Id="rId6" Type="http://schemas.openxmlformats.org/officeDocument/2006/relationships/slide" Target="slides/slide3.xml"/>
	<Relationship Id="rId7" Type="http://schemas.openxmlformats.org/officeDocument/2006/relationships/slide" Target="slides/slide4.xml"/>
	<Relationship Id="rId8" Type="http://schemas.openxmlformats.org/officeDocument/2006/relationships/slide" Target="slides/slide5.xml"/>
	<Relationship Id="rId9" Type="http://schemas.openxmlformats.org/officeDocument/2006/relationships/slide" Target="slides/slide6.xml"/>
	<Relationship Id="rId10" Type="http://schemas.openxmlformats.org/officeDocument/2006/relationships/slide" Target="slides/slide7.xml"/>
	<Relationship Id="rId11" Type="http://schemas.openxmlformats.org/officeDocument/2006/relationships/slide" Target="slides/slide8.xml"/>
	<Relationship Id="rId12" Type="http://schemas.openxmlformats.org/officeDocument/2006/relationships/slide" Target="slides/slide9.xml"/>
	<Relationship Id="rId13" Type="http://schemas.openxmlformats.org/officeDocument/2006/relationships/slide" Target="slides/slide10.xml"/>
	<Relationship Id="rId14" Type="http://schemas.openxmlformats.org/officeDocument/2006/relationships/presProps" Target="presProps.xml"/>
	<Relationship Id="rId15" Type="http://schemas.openxmlformats.org/officeDocument/2006/relationships/tableStyles" Target="tableStyles.xml"/>
	<Relationship Id="rId16" Type="http://schemas.openxmlformats.org/officeDocument/2006/relationships/viewProps" Target="viewProps.xml"/>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F5BBD1F-8128-4FBB-A53C-6AD3967930EB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FD6ABA-F238-469B-920A-839B916F25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014FE44-CF3C-417A-BE80-609E57CF0AE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A5C446F-D1A9-4C12-A133-EA9A50FCF9E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8269C8D-D7E7-4E1B-9861-FAB0A4A2694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DED2BA5-E9EE-4438-BC0A-BD8EFF31BB4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CFCBB0-3A3C-4C50-8950-054E019B3B8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778EF4-1FA7-494D-B877-C65EAAE4088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5F7A56-B149-46A3-AA10-70F1D26CE53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33003E3-A750-41BA-BED0-F23F1C796F9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670661-E995-4040-89C3-02434D2B26D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edit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forma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4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457200" y="731520"/>
            <a:ext cx="63720" cy="3474360"/>
          </a:xfrm>
          <a:prstGeom prst="rect">
            <a:avLst/>
          </a:prstGeom>
          <a:solidFill>
            <a:srgbClr val="e89b3a"/>
          </a:solidFill>
          <a:ln w="1270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"/>
          <p:cNvSpPr/>
          <p:nvPr/>
        </p:nvSpPr>
        <p:spPr>
          <a:xfrm>
            <a:off x="658440" y="685800"/>
            <a:ext cx="71319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mbria"/>
                <a:ea typeface="Cambria"/>
              </a:rPr>
              <a:t>AI &amp; Automation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3800" spc="-1" strike="noStrike">
                <a:solidFill>
                  <a:srgbClr val="ffffff"/>
                </a:solidFill>
                <a:latin typeface="Cambria"/>
                <a:ea typeface="Cambria"/>
              </a:rPr>
              <a:t>in Auditing</a:t>
            </a:r>
            <a:endParaRPr b="0" lang="en-US" sz="3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658440" y="2541960"/>
            <a:ext cx="7131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c8dafe"/>
                </a:solidFill>
                <a:latin typeface="Calibri"/>
                <a:ea typeface="Calibri"/>
              </a:rPr>
              <a:t>What it is, why it matters, and what we still don't know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3"/>
          <p:cNvSpPr/>
          <p:nvPr/>
        </p:nvSpPr>
        <p:spPr>
          <a:xfrm>
            <a:off x="658440" y="3090600"/>
            <a:ext cx="5028840" cy="27000"/>
          </a:xfrm>
          <a:prstGeom prst="rect">
            <a:avLst/>
          </a:prstGeom>
          <a:solidFill>
            <a:srgbClr val="2e5090"/>
          </a:solidFill>
          <a:ln w="12700">
            <a:solidFill>
              <a:srgbClr val="2e5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658440" y="3218760"/>
            <a:ext cx="5028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8090b0"/>
                </a:solidFill>
                <a:latin typeface="Calibri"/>
                <a:ea typeface="Calibri"/>
              </a:rPr>
              <a:t>MRes Business  ·  UK University  ·  2025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5"/>
          <p:cNvSpPr/>
          <p:nvPr/>
        </p:nvSpPr>
        <p:spPr>
          <a:xfrm>
            <a:off x="7315200" y="3291840"/>
            <a:ext cx="2285640" cy="2285640"/>
          </a:xfrm>
          <a:prstGeom prst="ellipse">
            <a:avLst/>
          </a:prstGeom>
          <a:solidFill>
            <a:srgbClr val="1e3a6e">
              <a:alpha val="40000"/>
            </a:srgbClr>
          </a:solidFill>
          <a:ln w="12700">
            <a:solidFill>
              <a:srgbClr val="2e509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7863840" y="3749040"/>
            <a:ext cx="1371240" cy="1371240"/>
          </a:xfrm>
          <a:prstGeom prst="ellipse">
            <a:avLst/>
          </a:prstGeom>
          <a:solidFill>
            <a:srgbClr val="2c4e8a">
              <a:alpha val="50000"/>
            </a:srgbClr>
          </a:solidFill>
          <a:ln w="12700">
            <a:solidFill>
              <a:srgbClr val="3a5f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7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a7abf"/>
                </a:solidFill>
                <a:latin typeface="Calibri"/>
                <a:ea typeface="Calibri"/>
              </a:rPr>
              <a:t>1 / 10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411480" y="164520"/>
            <a:ext cx="2285640" cy="292320"/>
          </a:xfrm>
          <a:prstGeom prst="roundRect">
            <a:avLst>
              <a:gd name="adj" fmla="val 25000"/>
            </a:avLst>
          </a:prstGeom>
          <a:solidFill>
            <a:srgbClr val="c8dafe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411480" y="1645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3a6e"/>
                </a:solidFill>
                <a:latin typeface="Calibri"/>
                <a:ea typeface="Calibri"/>
              </a:rPr>
              <a:t>BACKGROUND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090b0"/>
                </a:solidFill>
                <a:latin typeface="Calibri"/>
                <a:ea typeface="Calibri"/>
              </a:rPr>
              <a:t>2 / 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411480" y="54864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e3d"/>
                </a:solidFill>
                <a:latin typeface="Cambria"/>
                <a:ea typeface="Cambria"/>
              </a:rPr>
              <a:t>What is the Big Deal About AI in Auditing?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Shape 4"/>
          <p:cNvSpPr/>
          <p:nvPr/>
        </p:nvSpPr>
        <p:spPr>
          <a:xfrm>
            <a:off x="411480" y="1170360"/>
            <a:ext cx="3840120" cy="329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5"/>
          <p:cNvSpPr/>
          <p:nvPr/>
        </p:nvSpPr>
        <p:spPr>
          <a:xfrm>
            <a:off x="411480" y="1170360"/>
            <a:ext cx="3840120" cy="383760"/>
          </a:xfrm>
          <a:prstGeom prst="rect">
            <a:avLst/>
          </a:prstGeom>
          <a:solidFill>
            <a:srgbClr val="3a5faf"/>
          </a:solidFill>
          <a:ln w="12700">
            <a:solidFill>
              <a:srgbClr val="3a5f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502920" y="117036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📋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The Old Way (Traditional Audit)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567000" y="1664280"/>
            <a:ext cx="3547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➤  </a:t>
            </a: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Auditors check a small sample — maybe 5–10% of records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8"/>
          <p:cNvSpPr/>
          <p:nvPr/>
        </p:nvSpPr>
        <p:spPr>
          <a:xfrm>
            <a:off x="567000" y="2258640"/>
            <a:ext cx="3547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➤  </a:t>
            </a: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The rest is trusted or skipped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9"/>
          <p:cNvSpPr/>
          <p:nvPr/>
        </p:nvSpPr>
        <p:spPr>
          <a:xfrm>
            <a:off x="567000" y="2853000"/>
            <a:ext cx="3547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➤  </a:t>
            </a: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It takes a lot of time and human effort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10"/>
          <p:cNvSpPr/>
          <p:nvPr/>
        </p:nvSpPr>
        <p:spPr>
          <a:xfrm>
            <a:off x="567000" y="3447360"/>
            <a:ext cx="3547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➤  </a:t>
            </a: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It is easy for fraud to hide in the records that were NOT checked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Shape 11"/>
          <p:cNvSpPr/>
          <p:nvPr/>
        </p:nvSpPr>
        <p:spPr>
          <a:xfrm>
            <a:off x="4160520" y="2468880"/>
            <a:ext cx="822600" cy="822600"/>
          </a:xfrm>
          <a:prstGeom prst="ellipse">
            <a:avLst/>
          </a:prstGeom>
          <a:solidFill>
            <a:srgbClr val="132448"/>
          </a:solidFill>
          <a:ln w="12700">
            <a:solidFill>
              <a:srgbClr val="1324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2"/>
          <p:cNvSpPr/>
          <p:nvPr/>
        </p:nvSpPr>
        <p:spPr>
          <a:xfrm>
            <a:off x="4160520" y="2468880"/>
            <a:ext cx="8226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VS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Shape 13"/>
          <p:cNvSpPr/>
          <p:nvPr/>
        </p:nvSpPr>
        <p:spPr>
          <a:xfrm>
            <a:off x="4892040" y="1170360"/>
            <a:ext cx="3840120" cy="329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4"/>
          <p:cNvSpPr/>
          <p:nvPr/>
        </p:nvSpPr>
        <p:spPr>
          <a:xfrm>
            <a:off x="4892040" y="1170360"/>
            <a:ext cx="3840120" cy="383760"/>
          </a:xfrm>
          <a:prstGeom prst="rect">
            <a:avLst/>
          </a:prstGeom>
          <a:solidFill>
            <a:srgbClr val="e89b3a"/>
          </a:solidFill>
          <a:ln w="1270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5"/>
          <p:cNvSpPr/>
          <p:nvPr/>
        </p:nvSpPr>
        <p:spPr>
          <a:xfrm>
            <a:off x="4983480" y="1170360"/>
            <a:ext cx="3657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🤖  </a:t>
            </a:r>
            <a:r>
              <a:rPr b="1" lang="en-US" sz="1100" spc="-1" strike="noStrike">
                <a:solidFill>
                  <a:srgbClr val="ffffff"/>
                </a:solidFill>
                <a:latin typeface="Calibri"/>
                <a:ea typeface="Calibri"/>
              </a:rPr>
              <a:t>The New Way (AI-Assisted Audit)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6"/>
          <p:cNvSpPr/>
          <p:nvPr/>
        </p:nvSpPr>
        <p:spPr>
          <a:xfrm>
            <a:off x="5047560" y="1664280"/>
            <a:ext cx="3547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➤  </a:t>
            </a: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AI can check 100% of all records — every single transaction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5047560" y="2258640"/>
            <a:ext cx="3547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➤  </a:t>
            </a: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It spots unusual patterns that humans would miss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 18"/>
          <p:cNvSpPr/>
          <p:nvPr/>
        </p:nvSpPr>
        <p:spPr>
          <a:xfrm>
            <a:off x="5047560" y="2853000"/>
            <a:ext cx="3547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➤  </a:t>
            </a: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It works much faster and with fewer mistakes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9"/>
          <p:cNvSpPr/>
          <p:nvPr/>
        </p:nvSpPr>
        <p:spPr>
          <a:xfrm>
            <a:off x="5047560" y="3447360"/>
            <a:ext cx="35474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➤  </a:t>
            </a:r>
            <a:r>
              <a:rPr b="0" lang="en-US" sz="1050" spc="-1" strike="noStrike">
                <a:solidFill>
                  <a:srgbClr val="3a4a6b"/>
                </a:solidFill>
                <a:latin typeface="Calibri"/>
                <a:ea typeface="Calibri"/>
              </a:rPr>
              <a:t>Fraud has fewer places to hide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20"/>
          <p:cNvSpPr/>
          <p:nvPr/>
        </p:nvSpPr>
        <p:spPr>
          <a:xfrm>
            <a:off x="411480" y="457200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090b0"/>
                </a:solidFill>
                <a:latin typeface="Calibri"/>
                <a:ea typeface="Calibri"/>
              </a:rPr>
              <a:t>Key takeaway:  AI is not just faster — it changes what auditing can actually do.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411480" y="164520"/>
            <a:ext cx="2285640" cy="292320"/>
          </a:xfrm>
          <a:prstGeom prst="roundRect">
            <a:avLst>
              <a:gd name="adj" fmla="val 25000"/>
            </a:avLst>
          </a:prstGeom>
          <a:solidFill>
            <a:srgbClr val="c8dafe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411480" y="1645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3a6e"/>
                </a:solidFill>
                <a:latin typeface="Calibri"/>
                <a:ea typeface="Calibri"/>
              </a:rPr>
              <a:t>CONTEXT &amp; TIMING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090b0"/>
                </a:solidFill>
                <a:latin typeface="Calibri"/>
                <a:ea typeface="Calibri"/>
              </a:rPr>
              <a:t>3 / 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 3"/>
          <p:cNvSpPr/>
          <p:nvPr/>
        </p:nvSpPr>
        <p:spPr>
          <a:xfrm>
            <a:off x="411480" y="54864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e3d"/>
                </a:solidFill>
                <a:latin typeface="Cambria"/>
                <a:ea typeface="Cambria"/>
              </a:rPr>
              <a:t>Why is This Happening Now?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4"/>
          <p:cNvSpPr/>
          <p:nvPr/>
        </p:nvSpPr>
        <p:spPr>
          <a:xfrm>
            <a:off x="411480" y="1170360"/>
            <a:ext cx="201132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Shape 5"/>
          <p:cNvSpPr/>
          <p:nvPr/>
        </p:nvSpPr>
        <p:spPr>
          <a:xfrm>
            <a:off x="411480" y="1170360"/>
            <a:ext cx="2011320" cy="91080"/>
          </a:xfrm>
          <a:prstGeom prst="rect">
            <a:avLst/>
          </a:prstGeom>
          <a:solidFill>
            <a:srgbClr val="3a5faf"/>
          </a:solidFill>
          <a:ln w="12700">
            <a:solidFill>
              <a:srgbClr val="3a5f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411480" y="13348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📊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502920" y="18655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3a5faf"/>
                </a:solidFill>
                <a:latin typeface="Cambria"/>
                <a:ea typeface="Cambria"/>
              </a:rPr>
              <a:t>1980s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502920" y="21945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libri"/>
                <a:ea typeface="Calibri"/>
              </a:rPr>
              <a:t>Audit goes digital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502920" y="2560320"/>
            <a:ext cx="1828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Spreadsheets replace paper. But the basic process stays the same.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10"/>
          <p:cNvSpPr/>
          <p:nvPr/>
        </p:nvSpPr>
        <p:spPr>
          <a:xfrm>
            <a:off x="2441160" y="2770560"/>
            <a:ext cx="155520" cy="360"/>
          </a:xfrm>
          <a:prstGeom prst="line">
            <a:avLst/>
          </a:prstGeom>
          <a:ln w="19050">
            <a:solidFill>
              <a:srgbClr val="8090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2606040" y="1170360"/>
            <a:ext cx="201132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12"/>
          <p:cNvSpPr/>
          <p:nvPr/>
        </p:nvSpPr>
        <p:spPr>
          <a:xfrm>
            <a:off x="2606040" y="1170360"/>
            <a:ext cx="2011320" cy="91080"/>
          </a:xfrm>
          <a:prstGeom prst="rect">
            <a:avLst/>
          </a:prstGeom>
          <a:solidFill>
            <a:srgbClr val="1e7aba"/>
          </a:solidFill>
          <a:ln w="12700">
            <a:solidFill>
              <a:srgbClr val="1e7ab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2606040" y="13348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💾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2697480" y="18655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e7aba"/>
                </a:solidFill>
                <a:latin typeface="Cambria"/>
                <a:ea typeface="Cambria"/>
              </a:rPr>
              <a:t>2010s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15"/>
          <p:cNvSpPr/>
          <p:nvPr/>
        </p:nvSpPr>
        <p:spPr>
          <a:xfrm>
            <a:off x="2697480" y="21945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libri"/>
                <a:ea typeface="Calibri"/>
              </a:rPr>
              <a:t>Big Data arrives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2697480" y="2560320"/>
            <a:ext cx="1828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Companies now process millions of transactions every day.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7"/>
          <p:cNvSpPr/>
          <p:nvPr/>
        </p:nvSpPr>
        <p:spPr>
          <a:xfrm>
            <a:off x="4635720" y="2770560"/>
            <a:ext cx="155520" cy="360"/>
          </a:xfrm>
          <a:prstGeom prst="line">
            <a:avLst/>
          </a:prstGeom>
          <a:ln w="19050">
            <a:solidFill>
              <a:srgbClr val="8090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8"/>
          <p:cNvSpPr/>
          <p:nvPr/>
        </p:nvSpPr>
        <p:spPr>
          <a:xfrm>
            <a:off x="4800600" y="1170360"/>
            <a:ext cx="201132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9"/>
          <p:cNvSpPr/>
          <p:nvPr/>
        </p:nvSpPr>
        <p:spPr>
          <a:xfrm>
            <a:off x="4800600" y="1170360"/>
            <a:ext cx="2011320" cy="91080"/>
          </a:xfrm>
          <a:prstGeom prst="rect">
            <a:avLst/>
          </a:prstGeom>
          <a:solidFill>
            <a:srgbClr val="0e9a8a"/>
          </a:solidFill>
          <a:ln w="12700">
            <a:solidFill>
              <a:srgbClr val="0e9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20"/>
          <p:cNvSpPr/>
          <p:nvPr/>
        </p:nvSpPr>
        <p:spPr>
          <a:xfrm>
            <a:off x="4800600" y="13348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📄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21"/>
          <p:cNvSpPr/>
          <p:nvPr/>
        </p:nvSpPr>
        <p:spPr>
          <a:xfrm>
            <a:off x="4892040" y="18655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e9a8a"/>
                </a:solidFill>
                <a:latin typeface="Cambria"/>
                <a:ea typeface="Cambria"/>
              </a:rPr>
              <a:t>2016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22"/>
          <p:cNvSpPr/>
          <p:nvPr/>
        </p:nvSpPr>
        <p:spPr>
          <a:xfrm>
            <a:off x="4892040" y="21945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libri"/>
                <a:ea typeface="Calibri"/>
              </a:rPr>
              <a:t>Regulators notice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23"/>
          <p:cNvSpPr/>
          <p:nvPr/>
        </p:nvSpPr>
        <p:spPr>
          <a:xfrm>
            <a:off x="4892040" y="2560320"/>
            <a:ext cx="1828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IAASB admits the rulebook was not written for AI tools.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4"/>
          <p:cNvSpPr/>
          <p:nvPr/>
        </p:nvSpPr>
        <p:spPr>
          <a:xfrm>
            <a:off x="6830280" y="2770560"/>
            <a:ext cx="155520" cy="360"/>
          </a:xfrm>
          <a:prstGeom prst="line">
            <a:avLst/>
          </a:prstGeom>
          <a:ln w="19050">
            <a:solidFill>
              <a:srgbClr val="8090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5"/>
          <p:cNvSpPr/>
          <p:nvPr/>
        </p:nvSpPr>
        <p:spPr>
          <a:xfrm>
            <a:off x="6995160" y="1170360"/>
            <a:ext cx="201132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hape 26"/>
          <p:cNvSpPr/>
          <p:nvPr/>
        </p:nvSpPr>
        <p:spPr>
          <a:xfrm>
            <a:off x="6995160" y="1170360"/>
            <a:ext cx="2011320" cy="91080"/>
          </a:xfrm>
          <a:prstGeom prst="rect">
            <a:avLst/>
          </a:prstGeom>
          <a:solidFill>
            <a:srgbClr val="e89b3a"/>
          </a:solidFill>
          <a:ln w="1270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27"/>
          <p:cNvSpPr/>
          <p:nvPr/>
        </p:nvSpPr>
        <p:spPr>
          <a:xfrm>
            <a:off x="6995160" y="1334880"/>
            <a:ext cx="2011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🤖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28"/>
          <p:cNvSpPr/>
          <p:nvPr/>
        </p:nvSpPr>
        <p:spPr>
          <a:xfrm>
            <a:off x="7086600" y="186552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e89b3a"/>
                </a:solidFill>
                <a:latin typeface="Cambria"/>
                <a:ea typeface="Cambria"/>
              </a:rPr>
              <a:t>2020s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9"/>
          <p:cNvSpPr/>
          <p:nvPr/>
        </p:nvSpPr>
        <p:spPr>
          <a:xfrm>
            <a:off x="7086600" y="2194560"/>
            <a:ext cx="18284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libri"/>
                <a:ea typeface="Calibri"/>
              </a:rPr>
              <a:t>Big Four go live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30"/>
          <p:cNvSpPr/>
          <p:nvPr/>
        </p:nvSpPr>
        <p:spPr>
          <a:xfrm>
            <a:off x="7086600" y="2560320"/>
            <a:ext cx="182844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Deloitte, KPMG, EY all launch real AI audit platforms.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31"/>
          <p:cNvSpPr/>
          <p:nvPr/>
        </p:nvSpPr>
        <p:spPr>
          <a:xfrm>
            <a:off x="411480" y="457200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090b0"/>
                </a:solidFill>
                <a:latin typeface="Calibri"/>
                <a:ea typeface="Calibri"/>
              </a:rPr>
              <a:t>The problem:  Standards still haven't caught up — firms are using AI tools without clear rules about how to do it properly.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411480" y="164520"/>
            <a:ext cx="2285640" cy="292320"/>
          </a:xfrm>
          <a:prstGeom prst="roundRect">
            <a:avLst>
              <a:gd name="adj" fmla="val 25000"/>
            </a:avLst>
          </a:prstGeom>
          <a:solidFill>
            <a:srgbClr val="c8dafe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411480" y="1645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3a6e"/>
                </a:solidFill>
                <a:latin typeface="Calibri"/>
                <a:ea typeface="Calibri"/>
              </a:rPr>
              <a:t>AI TOOLS IN PRACTICE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090b0"/>
                </a:solidFill>
                <a:latin typeface="Calibri"/>
                <a:ea typeface="Calibri"/>
              </a:rPr>
              <a:t>4 / 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411480" y="54864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e3d"/>
                </a:solidFill>
                <a:latin typeface="Cambria"/>
                <a:ea typeface="Cambria"/>
              </a:rPr>
              <a:t>What Does AI Actually Do in an Audit?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4"/>
          <p:cNvSpPr/>
          <p:nvPr/>
        </p:nvSpPr>
        <p:spPr>
          <a:xfrm>
            <a:off x="411480" y="1170360"/>
            <a:ext cx="2742840" cy="338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411480" y="1170360"/>
            <a:ext cx="2742840" cy="91080"/>
          </a:xfrm>
          <a:prstGeom prst="rect">
            <a:avLst/>
          </a:prstGeom>
          <a:solidFill>
            <a:srgbClr val="3a5faf"/>
          </a:solidFill>
          <a:ln w="12700">
            <a:solidFill>
              <a:srgbClr val="3a5f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11480" y="13348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🔍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521280" y="1792080"/>
            <a:ext cx="2523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a5faf"/>
                </a:solidFill>
                <a:latin typeface="Cambria"/>
                <a:ea typeface="Cambria"/>
              </a:rPr>
              <a:t>Machine Learning (ML)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8"/>
          <p:cNvSpPr/>
          <p:nvPr/>
        </p:nvSpPr>
        <p:spPr>
          <a:xfrm>
            <a:off x="521280" y="21762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Scans all transactions and flags anything unusual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521280" y="272484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Example: flags a payment made at 3am on a Sunday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521280" y="327348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Used in fraud detection — finds patterns humans miss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1"/>
          <p:cNvSpPr/>
          <p:nvPr/>
        </p:nvSpPr>
        <p:spPr>
          <a:xfrm>
            <a:off x="521280" y="382212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Already used by Deloitte's Omnia platform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12"/>
          <p:cNvSpPr/>
          <p:nvPr/>
        </p:nvSpPr>
        <p:spPr>
          <a:xfrm>
            <a:off x="3355920" y="1170360"/>
            <a:ext cx="2742840" cy="338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3"/>
          <p:cNvSpPr/>
          <p:nvPr/>
        </p:nvSpPr>
        <p:spPr>
          <a:xfrm>
            <a:off x="3355920" y="1170360"/>
            <a:ext cx="2742840" cy="91080"/>
          </a:xfrm>
          <a:prstGeom prst="rect">
            <a:avLst/>
          </a:prstGeom>
          <a:solidFill>
            <a:srgbClr val="0e9a8a"/>
          </a:solidFill>
          <a:ln w="12700">
            <a:solidFill>
              <a:srgbClr val="0e9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4"/>
          <p:cNvSpPr/>
          <p:nvPr/>
        </p:nvSpPr>
        <p:spPr>
          <a:xfrm>
            <a:off x="3355920" y="13348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🤖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3465720" y="1792080"/>
            <a:ext cx="2523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9a8a"/>
                </a:solidFill>
                <a:latin typeface="Cambria"/>
                <a:ea typeface="Cambria"/>
              </a:rPr>
              <a:t>Robotic Process Automation (RPA)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3465720" y="21762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Robots that do repetitive audit tasks automatically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17"/>
          <p:cNvSpPr/>
          <p:nvPr/>
        </p:nvSpPr>
        <p:spPr>
          <a:xfrm>
            <a:off x="3465720" y="272484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Example: checking every bank statement automatically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3465720" y="327348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Saves hours of boring manual work every day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19"/>
          <p:cNvSpPr/>
          <p:nvPr/>
        </p:nvSpPr>
        <p:spPr>
          <a:xfrm>
            <a:off x="3465720" y="382212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Frees auditors to focus on difficult judgement calls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20"/>
          <p:cNvSpPr/>
          <p:nvPr/>
        </p:nvSpPr>
        <p:spPr>
          <a:xfrm>
            <a:off x="6300360" y="1170360"/>
            <a:ext cx="2742840" cy="338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21"/>
          <p:cNvSpPr/>
          <p:nvPr/>
        </p:nvSpPr>
        <p:spPr>
          <a:xfrm>
            <a:off x="6300360" y="1170360"/>
            <a:ext cx="2742840" cy="91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2"/>
          <p:cNvSpPr/>
          <p:nvPr/>
        </p:nvSpPr>
        <p:spPr>
          <a:xfrm>
            <a:off x="6300360" y="1334880"/>
            <a:ext cx="2742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📝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23"/>
          <p:cNvSpPr/>
          <p:nvPr/>
        </p:nvSpPr>
        <p:spPr>
          <a:xfrm>
            <a:off x="6409800" y="1792080"/>
            <a:ext cx="252324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c3aed"/>
                </a:solidFill>
                <a:latin typeface="Cambria"/>
                <a:ea typeface="Cambria"/>
              </a:rPr>
              <a:t>Natural Language Processing (NLP)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4"/>
          <p:cNvSpPr/>
          <p:nvPr/>
        </p:nvSpPr>
        <p:spPr>
          <a:xfrm>
            <a:off x="6409800" y="21762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AI that can read and understand written documents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25"/>
          <p:cNvSpPr/>
          <p:nvPr/>
        </p:nvSpPr>
        <p:spPr>
          <a:xfrm>
            <a:off x="6409800" y="272484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Example: reads 500-page contracts and finds risks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26"/>
          <p:cNvSpPr/>
          <p:nvPr/>
        </p:nvSpPr>
        <p:spPr>
          <a:xfrm>
            <a:off x="6409800" y="327348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Spots problems in notes, emails, and disclosures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27"/>
          <p:cNvSpPr/>
          <p:nvPr/>
        </p:nvSpPr>
        <p:spPr>
          <a:xfrm>
            <a:off x="6409800" y="382212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3a4a6b"/>
                </a:solidFill>
                <a:latin typeface="Calibri"/>
                <a:ea typeface="Calibri"/>
              </a:rPr>
              <a:t>Much faster than a human reading the same pages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28"/>
          <p:cNvSpPr/>
          <p:nvPr/>
        </p:nvSpPr>
        <p:spPr>
          <a:xfrm>
            <a:off x="411480" y="4617720"/>
            <a:ext cx="8320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pc="-1" strike="noStrike">
                <a:solidFill>
                  <a:srgbClr val="8090b0"/>
                </a:solidFill>
                <a:latin typeface="Calibri"/>
                <a:ea typeface="Calibri"/>
              </a:rPr>
              <a:t>Remember:  These are real tools being used by real firms on real clients right now — not future technology.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0"/>
          <p:cNvSpPr/>
          <p:nvPr/>
        </p:nvSpPr>
        <p:spPr>
          <a:xfrm>
            <a:off x="411480" y="164520"/>
            <a:ext cx="2285640" cy="292320"/>
          </a:xfrm>
          <a:prstGeom prst="roundRect">
            <a:avLst>
              <a:gd name="adj" fmla="val 25000"/>
            </a:avLst>
          </a:prstGeom>
          <a:solidFill>
            <a:srgbClr val="c8dafe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411480" y="1645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3a6e"/>
                </a:solidFill>
                <a:latin typeface="Calibri"/>
                <a:ea typeface="Calibri"/>
              </a:rPr>
              <a:t>KEY STUDIES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 2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090b0"/>
                </a:solidFill>
                <a:latin typeface="Calibri"/>
                <a:ea typeface="Calibri"/>
              </a:rPr>
              <a:t>5 / 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411480" y="54864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e3d"/>
                </a:solidFill>
                <a:latin typeface="Cambria"/>
                <a:ea typeface="Cambria"/>
              </a:rPr>
              <a:t>What Do Researchers Say About AI in Auditing?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411480" y="1170360"/>
            <a:ext cx="4114440" cy="171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411480" y="1170360"/>
            <a:ext cx="63720" cy="1718640"/>
          </a:xfrm>
          <a:prstGeom prst="rect">
            <a:avLst/>
          </a:prstGeom>
          <a:solidFill>
            <a:srgbClr val="3a5faf"/>
          </a:solidFill>
          <a:ln w="12700">
            <a:solidFill>
              <a:srgbClr val="3a5f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548640" y="12434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7" strike="noStrike">
                <a:solidFill>
                  <a:srgbClr val="3a5faf"/>
                </a:solidFill>
                <a:latin typeface="Calibri"/>
                <a:ea typeface="Calibri"/>
              </a:rPr>
              <a:t>AI OVERVIEW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548640" y="14263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e3d"/>
                </a:solidFill>
                <a:latin typeface="Cambria"/>
                <a:ea typeface="Cambria"/>
              </a:rPr>
              <a:t>Issa, Sun &amp; Vasarhelyi (2016)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548640" y="166428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090b0"/>
                </a:solidFill>
                <a:latin typeface="Calibri"/>
                <a:ea typeface="Calibri"/>
              </a:rPr>
              <a:t>"AI will replace repetitive audit tasks first, then move into complex decisions"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548640" y="193860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Stage 1: AI does basic, rule-based tasks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548640" y="216720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Stage 2: AI helps auditors make decisions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548640" y="239580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Stage 3: AI takes over even complex judgements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548640" y="262440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We are currently somewhere between Stage 1 and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Shape 13"/>
          <p:cNvSpPr/>
          <p:nvPr/>
        </p:nvSpPr>
        <p:spPr>
          <a:xfrm>
            <a:off x="4800600" y="1170360"/>
            <a:ext cx="4114440" cy="171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4800600" y="1170360"/>
            <a:ext cx="63720" cy="171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4937760" y="124344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7" strike="noStrike">
                <a:solidFill>
                  <a:srgbClr val="c0392b"/>
                </a:solidFill>
                <a:latin typeface="Calibri"/>
                <a:ea typeface="Calibri"/>
              </a:rPr>
              <a:t>HUMAN BEHAVIOUR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4937760" y="142632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e3d"/>
                </a:solidFill>
                <a:latin typeface="Cambria"/>
                <a:ea typeface="Cambria"/>
              </a:rPr>
              <a:t>Brown-Liburd et al. (2015)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4937760" y="166428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090b0"/>
                </a:solidFill>
                <a:latin typeface="Calibri"/>
                <a:ea typeface="Calibri"/>
              </a:rPr>
              <a:t>"More data does NOT automatically make auditors better at their job"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4937760" y="193860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Too much information overwhelms auditors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9"/>
          <p:cNvSpPr/>
          <p:nvPr/>
        </p:nvSpPr>
        <p:spPr>
          <a:xfrm>
            <a:off x="4937760" y="216720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Auditors can lose focus when AI gives too many flags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20"/>
          <p:cNvSpPr/>
          <p:nvPr/>
        </p:nvSpPr>
        <p:spPr>
          <a:xfrm>
            <a:off x="4937760" y="239580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Human judgement can actually get WORSE with too much data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21"/>
          <p:cNvSpPr/>
          <p:nvPr/>
        </p:nvSpPr>
        <p:spPr>
          <a:xfrm>
            <a:off x="4937760" y="262440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This is a major risk nobody talks about enough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22"/>
          <p:cNvSpPr/>
          <p:nvPr/>
        </p:nvSpPr>
        <p:spPr>
          <a:xfrm>
            <a:off x="411480" y="3017520"/>
            <a:ext cx="4114440" cy="171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23"/>
          <p:cNvSpPr/>
          <p:nvPr/>
        </p:nvSpPr>
        <p:spPr>
          <a:xfrm>
            <a:off x="411480" y="3017520"/>
            <a:ext cx="63720" cy="1718640"/>
          </a:xfrm>
          <a:prstGeom prst="rect">
            <a:avLst/>
          </a:prstGeom>
          <a:solidFill>
            <a:srgbClr val="0e9a8a"/>
          </a:solidFill>
          <a:ln w="12700">
            <a:solidFill>
              <a:srgbClr val="0e9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4"/>
          <p:cNvSpPr/>
          <p:nvPr/>
        </p:nvSpPr>
        <p:spPr>
          <a:xfrm>
            <a:off x="548640" y="309060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7" strike="noStrike">
                <a:solidFill>
                  <a:srgbClr val="0e9a8a"/>
                </a:solidFill>
                <a:latin typeface="Calibri"/>
                <a:ea typeface="Calibri"/>
              </a:rPr>
              <a:t>RPA IN AUDIT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5"/>
          <p:cNvSpPr/>
          <p:nvPr/>
        </p:nvSpPr>
        <p:spPr>
          <a:xfrm>
            <a:off x="548640" y="327348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e3d"/>
                </a:solidFill>
                <a:latin typeface="Cambria"/>
                <a:ea typeface="Cambria"/>
              </a:rPr>
              <a:t>Huang &amp; Vasarhelyi (2019)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6"/>
          <p:cNvSpPr/>
          <p:nvPr/>
        </p:nvSpPr>
        <p:spPr>
          <a:xfrm>
            <a:off x="548640" y="35114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090b0"/>
                </a:solidFill>
                <a:latin typeface="Calibri"/>
                <a:ea typeface="Calibri"/>
              </a:rPr>
              <a:t>"RPA can automate many routine audit checks successfully"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7"/>
          <p:cNvSpPr/>
          <p:nvPr/>
        </p:nvSpPr>
        <p:spPr>
          <a:xfrm>
            <a:off x="548640" y="378576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Bank reconciliation can be done fully by robots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28"/>
          <p:cNvSpPr/>
          <p:nvPr/>
        </p:nvSpPr>
        <p:spPr>
          <a:xfrm>
            <a:off x="548640" y="401436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Accounts payable testing is mostly automated already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29"/>
          <p:cNvSpPr/>
          <p:nvPr/>
        </p:nvSpPr>
        <p:spPr>
          <a:xfrm>
            <a:off x="548640" y="424296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Gives auditors more time for tricky situations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30"/>
          <p:cNvSpPr/>
          <p:nvPr/>
        </p:nvSpPr>
        <p:spPr>
          <a:xfrm>
            <a:off x="548640" y="447156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Warning: real-world evidence is still limited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31"/>
          <p:cNvSpPr/>
          <p:nvPr/>
        </p:nvSpPr>
        <p:spPr>
          <a:xfrm>
            <a:off x="4800600" y="3017520"/>
            <a:ext cx="4114440" cy="171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32"/>
          <p:cNvSpPr/>
          <p:nvPr/>
        </p:nvSpPr>
        <p:spPr>
          <a:xfrm>
            <a:off x="4800600" y="3017520"/>
            <a:ext cx="63720" cy="171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33"/>
          <p:cNvSpPr/>
          <p:nvPr/>
        </p:nvSpPr>
        <p:spPr>
          <a:xfrm>
            <a:off x="4937760" y="3090600"/>
            <a:ext cx="3931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750" spc="117" strike="noStrike">
                <a:solidFill>
                  <a:srgbClr val="7c3aed"/>
                </a:solidFill>
                <a:latin typeface="Calibri"/>
                <a:ea typeface="Calibri"/>
              </a:rPr>
              <a:t>BIGGER PICTURE</a:t>
            </a:r>
            <a:endParaRPr b="0" lang="en-US" sz="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34"/>
          <p:cNvSpPr/>
          <p:nvPr/>
        </p:nvSpPr>
        <p:spPr>
          <a:xfrm>
            <a:off x="4937760" y="3273480"/>
            <a:ext cx="3931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f1e3d"/>
                </a:solidFill>
                <a:latin typeface="Cambria"/>
                <a:ea typeface="Cambria"/>
              </a:rPr>
              <a:t>Moll &amp; Yigitbasioglu (2019)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35"/>
          <p:cNvSpPr/>
          <p:nvPr/>
        </p:nvSpPr>
        <p:spPr>
          <a:xfrm>
            <a:off x="4937760" y="3511440"/>
            <a:ext cx="393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090b0"/>
                </a:solidFill>
                <a:latin typeface="Calibri"/>
                <a:ea typeface="Calibri"/>
              </a:rPr>
              <a:t>"Technology is slowly changing what accountants actually do at work"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36"/>
          <p:cNvSpPr/>
          <p:nvPr/>
        </p:nvSpPr>
        <p:spPr>
          <a:xfrm>
            <a:off x="4937760" y="378576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Routine tasks are disappearing from accounting jobs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Text 37"/>
          <p:cNvSpPr/>
          <p:nvPr/>
        </p:nvSpPr>
        <p:spPr>
          <a:xfrm>
            <a:off x="4937760" y="401436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New skills needed: data reading, AI understanding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38"/>
          <p:cNvSpPr/>
          <p:nvPr/>
        </p:nvSpPr>
        <p:spPr>
          <a:xfrm>
            <a:off x="4937760" y="424296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Risk: accountants may forget how to work without AI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39"/>
          <p:cNvSpPr/>
          <p:nvPr/>
        </p:nvSpPr>
        <p:spPr>
          <a:xfrm>
            <a:off x="4937760" y="4471560"/>
            <a:ext cx="3913200" cy="2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Published in The British Accounting Review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0"/>
          <p:cNvSpPr/>
          <p:nvPr/>
        </p:nvSpPr>
        <p:spPr>
          <a:xfrm>
            <a:off x="411480" y="164520"/>
            <a:ext cx="2285640" cy="292320"/>
          </a:xfrm>
          <a:prstGeom prst="roundRect">
            <a:avLst>
              <a:gd name="adj" fmla="val 25000"/>
            </a:avLst>
          </a:prstGeom>
          <a:solidFill>
            <a:srgbClr val="c8dafe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411480" y="1645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3a6e"/>
                </a:solidFill>
                <a:latin typeface="Calibri"/>
                <a:ea typeface="Calibri"/>
              </a:rPr>
              <a:t>GAPS IN RESEARCH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090b0"/>
                </a:solidFill>
                <a:latin typeface="Calibri"/>
                <a:ea typeface="Calibri"/>
              </a:rPr>
              <a:t>6 / 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3"/>
          <p:cNvSpPr/>
          <p:nvPr/>
        </p:nvSpPr>
        <p:spPr>
          <a:xfrm>
            <a:off x="411480" y="54864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e3d"/>
                </a:solidFill>
                <a:latin typeface="Cambria"/>
                <a:ea typeface="Cambria"/>
              </a:rPr>
              <a:t>What Has NOT Been Studied Enough?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4"/>
          <p:cNvSpPr/>
          <p:nvPr/>
        </p:nvSpPr>
        <p:spPr>
          <a:xfrm>
            <a:off x="411480" y="107892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3a4a6b"/>
                </a:solidFill>
                <a:latin typeface="Calibri"/>
                <a:ea typeface="Calibri"/>
              </a:rPr>
              <a:t>Researchers have written a lot about AI tools — but these big questions are still unanswered: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5"/>
          <p:cNvSpPr/>
          <p:nvPr/>
        </p:nvSpPr>
        <p:spPr>
          <a:xfrm>
            <a:off x="411480" y="1481400"/>
            <a:ext cx="4114440" cy="1627200"/>
          </a:xfrm>
          <a:prstGeom prst="roundRect">
            <a:avLst>
              <a:gd name="adj" fmla="val 3933"/>
            </a:avLst>
          </a:prstGeom>
          <a:solidFill>
            <a:srgbClr val="fff4e5"/>
          </a:solidFill>
          <a:ln w="19050">
            <a:solidFill>
              <a:srgbClr val="e89b3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6"/>
          <p:cNvSpPr/>
          <p:nvPr/>
        </p:nvSpPr>
        <p:spPr>
          <a:xfrm>
            <a:off x="548640" y="15728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❓  </a:t>
            </a: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Who is responsible when AI makes a mistake?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7"/>
          <p:cNvSpPr/>
          <p:nvPr/>
        </p:nvSpPr>
        <p:spPr>
          <a:xfrm>
            <a:off x="548640" y="195696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If AI says a company is financially healthy and it is not — who is to blame?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8"/>
          <p:cNvSpPr/>
          <p:nvPr/>
        </p:nvSpPr>
        <p:spPr>
          <a:xfrm>
            <a:off x="548640" y="223128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The auditor? The software company? Nobody knows yet.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548640" y="250560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Courts have not tested this. Regulations do not cover it.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548640" y="277992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This is a major legal gap nobody has solved.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Shape 11"/>
          <p:cNvSpPr/>
          <p:nvPr/>
        </p:nvSpPr>
        <p:spPr>
          <a:xfrm>
            <a:off x="4782240" y="1481400"/>
            <a:ext cx="4114440" cy="1627200"/>
          </a:xfrm>
          <a:prstGeom prst="roundRect">
            <a:avLst>
              <a:gd name="adj" fmla="val 3933"/>
            </a:avLst>
          </a:prstGeom>
          <a:solidFill>
            <a:srgbClr val="eff5ff"/>
          </a:solidFill>
          <a:ln w="19050">
            <a:solidFill>
              <a:srgbClr val="3a5fa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12"/>
          <p:cNvSpPr/>
          <p:nvPr/>
        </p:nvSpPr>
        <p:spPr>
          <a:xfrm>
            <a:off x="4919400" y="157284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🧠  </a:t>
            </a: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Does AI affect how carefully auditors think?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13"/>
          <p:cNvSpPr/>
          <p:nvPr/>
        </p:nvSpPr>
        <p:spPr>
          <a:xfrm>
            <a:off x="4919400" y="195696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Auditors are supposed to question everything (called 'professional scepticism')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4"/>
          <p:cNvSpPr/>
          <p:nvPr/>
        </p:nvSpPr>
        <p:spPr>
          <a:xfrm>
            <a:off x="4919400" y="223128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Does relying on AI make them lazy or less careful?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5"/>
          <p:cNvSpPr/>
          <p:nvPr/>
        </p:nvSpPr>
        <p:spPr>
          <a:xfrm>
            <a:off x="4919400" y="250560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Or does it help them focus on the hardest problems?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6"/>
          <p:cNvSpPr/>
          <p:nvPr/>
        </p:nvSpPr>
        <p:spPr>
          <a:xfrm>
            <a:off x="4919400" y="277992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No clear answer exists — especially for UK auditors.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17"/>
          <p:cNvSpPr/>
          <p:nvPr/>
        </p:nvSpPr>
        <p:spPr>
          <a:xfrm>
            <a:off x="411480" y="3237120"/>
            <a:ext cx="4114440" cy="1627200"/>
          </a:xfrm>
          <a:prstGeom prst="roundRect">
            <a:avLst>
              <a:gd name="adj" fmla="val 3933"/>
            </a:avLst>
          </a:prstGeom>
          <a:solidFill>
            <a:srgbClr val="e8f8f5"/>
          </a:solidFill>
          <a:ln w="19050">
            <a:solidFill>
              <a:srgbClr val="0e9a8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18"/>
          <p:cNvSpPr/>
          <p:nvPr/>
        </p:nvSpPr>
        <p:spPr>
          <a:xfrm>
            <a:off x="548640" y="3328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🏢  </a:t>
            </a: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What about smaller audit firms?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19"/>
          <p:cNvSpPr/>
          <p:nvPr/>
        </p:nvSpPr>
        <p:spPr>
          <a:xfrm>
            <a:off x="548640" y="371232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Almost all research is about the Big Four (Deloitte, KPMG, EY, PwC)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20"/>
          <p:cNvSpPr/>
          <p:nvPr/>
        </p:nvSpPr>
        <p:spPr>
          <a:xfrm>
            <a:off x="548640" y="398664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Thousands of smaller firms audit small businesses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21"/>
          <p:cNvSpPr/>
          <p:nvPr/>
        </p:nvSpPr>
        <p:spPr>
          <a:xfrm>
            <a:off x="548640" y="426096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Can they afford AI? Do they even use it?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22"/>
          <p:cNvSpPr/>
          <p:nvPr/>
        </p:nvSpPr>
        <p:spPr>
          <a:xfrm>
            <a:off x="548640" y="453528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If not, is the quality gap between big and small firms growing?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23"/>
          <p:cNvSpPr/>
          <p:nvPr/>
        </p:nvSpPr>
        <p:spPr>
          <a:xfrm>
            <a:off x="4782240" y="3237120"/>
            <a:ext cx="4114440" cy="1627200"/>
          </a:xfrm>
          <a:prstGeom prst="roundRect">
            <a:avLst>
              <a:gd name="adj" fmla="val 3933"/>
            </a:avLst>
          </a:prstGeom>
          <a:solidFill>
            <a:srgbClr val="f3e8ff"/>
          </a:solidFill>
          <a:ln w="19050">
            <a:solidFill>
              <a:srgbClr val="7c3aed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24"/>
          <p:cNvSpPr/>
          <p:nvPr/>
        </p:nvSpPr>
        <p:spPr>
          <a:xfrm>
            <a:off x="4919400" y="3328560"/>
            <a:ext cx="3840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🌍  </a:t>
            </a: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Does it work the same in every country?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25"/>
          <p:cNvSpPr/>
          <p:nvPr/>
        </p:nvSpPr>
        <p:spPr>
          <a:xfrm>
            <a:off x="4919400" y="371232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Most studies come from the United States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26"/>
          <p:cNvSpPr/>
          <p:nvPr/>
        </p:nvSpPr>
        <p:spPr>
          <a:xfrm>
            <a:off x="4919400" y="398664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The UK has different rules and history (see: Carillion collapse)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27"/>
          <p:cNvSpPr/>
          <p:nvPr/>
        </p:nvSpPr>
        <p:spPr>
          <a:xfrm>
            <a:off x="4919400" y="426096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What works in New York may not work in London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28"/>
          <p:cNvSpPr/>
          <p:nvPr/>
        </p:nvSpPr>
        <p:spPr>
          <a:xfrm>
            <a:off x="4919400" y="4535280"/>
            <a:ext cx="3858480" cy="24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Cross-country research is almost completely absent.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4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411480" y="164520"/>
            <a:ext cx="2285640" cy="292320"/>
          </a:xfrm>
          <a:prstGeom prst="roundRect">
            <a:avLst>
              <a:gd name="adj" fmla="val 25000"/>
            </a:avLst>
          </a:prstGeom>
          <a:solidFill>
            <a:srgbClr val="1e3a6e"/>
          </a:solidFill>
          <a:ln w="12700">
            <a:solidFill>
              <a:srgbClr val="3a5f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"/>
          <p:cNvSpPr/>
          <p:nvPr/>
        </p:nvSpPr>
        <p:spPr>
          <a:xfrm>
            <a:off x="411480" y="1645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c8dafe"/>
                </a:solidFill>
                <a:latin typeface="Calibri"/>
                <a:ea typeface="Calibri"/>
              </a:rPr>
              <a:t>RESEARCH QUESTIONS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a7abf"/>
                </a:solidFill>
                <a:latin typeface="Calibri"/>
                <a:ea typeface="Calibri"/>
              </a:rPr>
              <a:t>7 / 10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3"/>
          <p:cNvSpPr/>
          <p:nvPr/>
        </p:nvSpPr>
        <p:spPr>
          <a:xfrm>
            <a:off x="411480" y="56700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Cambria"/>
                <a:ea typeface="Cambria"/>
              </a:rPr>
              <a:t>3 Key Questions This Research Wants to Answer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411480" y="1207080"/>
            <a:ext cx="8320680" cy="1133640"/>
          </a:xfrm>
          <a:prstGeom prst="rect">
            <a:avLst/>
          </a:prstGeom>
          <a:solidFill>
            <a:srgbClr val="0f1e3d"/>
          </a:solidFill>
          <a:ln w="1905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5"/>
          <p:cNvSpPr/>
          <p:nvPr/>
        </p:nvSpPr>
        <p:spPr>
          <a:xfrm>
            <a:off x="411480" y="1207080"/>
            <a:ext cx="72720" cy="1133640"/>
          </a:xfrm>
          <a:prstGeom prst="rect">
            <a:avLst/>
          </a:prstGeom>
          <a:solidFill>
            <a:srgbClr val="e89b3a"/>
          </a:solidFill>
          <a:ln w="1270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567000" y="1280160"/>
            <a:ext cx="639720" cy="255600"/>
          </a:xfrm>
          <a:prstGeom prst="roundRect">
            <a:avLst>
              <a:gd name="adj" fmla="val 17857"/>
            </a:avLst>
          </a:prstGeom>
          <a:solidFill>
            <a:srgbClr val="e89b3a"/>
          </a:solidFill>
          <a:ln w="1270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7"/>
          <p:cNvSpPr/>
          <p:nvPr/>
        </p:nvSpPr>
        <p:spPr>
          <a:xfrm>
            <a:off x="567000" y="128016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32448"/>
                </a:solidFill>
                <a:latin typeface="Calibri"/>
                <a:ea typeface="Calibri"/>
              </a:rPr>
              <a:t>RQ 1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8"/>
          <p:cNvSpPr/>
          <p:nvPr/>
        </p:nvSpPr>
        <p:spPr>
          <a:xfrm>
            <a:off x="1316880" y="1280160"/>
            <a:ext cx="7269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mbria"/>
                <a:ea typeface="Cambria"/>
              </a:rPr>
              <a:t>Does using AI make auditors less careful and critical?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9"/>
          <p:cNvSpPr/>
          <p:nvPr/>
        </p:nvSpPr>
        <p:spPr>
          <a:xfrm>
            <a:off x="567000" y="1682640"/>
            <a:ext cx="3977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Auditors must always question what they see — this is called 'professional scepticism'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0"/>
          <p:cNvSpPr/>
          <p:nvPr/>
        </p:nvSpPr>
        <p:spPr>
          <a:xfrm>
            <a:off x="4681800" y="1682640"/>
            <a:ext cx="3977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When a computer flags something suspicious, do auditors just trust it blindly?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11"/>
          <p:cNvSpPr/>
          <p:nvPr/>
        </p:nvSpPr>
        <p:spPr>
          <a:xfrm>
            <a:off x="567000" y="195696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Or do they still apply their own judgement on top?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12"/>
          <p:cNvSpPr/>
          <p:nvPr/>
        </p:nvSpPr>
        <p:spPr>
          <a:xfrm>
            <a:off x="4681800" y="195696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This matters because blind trust in AI = major audit failures waiting to happen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Shape 13"/>
          <p:cNvSpPr/>
          <p:nvPr/>
        </p:nvSpPr>
        <p:spPr>
          <a:xfrm>
            <a:off x="411480" y="2468880"/>
            <a:ext cx="8320680" cy="1133640"/>
          </a:xfrm>
          <a:prstGeom prst="rect">
            <a:avLst/>
          </a:prstGeom>
          <a:solidFill>
            <a:srgbClr val="0f1e3d"/>
          </a:solidFill>
          <a:ln w="19050">
            <a:solidFill>
              <a:srgbClr val="0e9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411480" y="2468880"/>
            <a:ext cx="72720" cy="1133640"/>
          </a:xfrm>
          <a:prstGeom prst="rect">
            <a:avLst/>
          </a:prstGeom>
          <a:solidFill>
            <a:srgbClr val="0e9a8a"/>
          </a:solidFill>
          <a:ln w="12700">
            <a:solidFill>
              <a:srgbClr val="0e9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567000" y="2541960"/>
            <a:ext cx="639720" cy="255600"/>
          </a:xfrm>
          <a:prstGeom prst="roundRect">
            <a:avLst>
              <a:gd name="adj" fmla="val 17857"/>
            </a:avLst>
          </a:prstGeom>
          <a:solidFill>
            <a:srgbClr val="0e9a8a"/>
          </a:solidFill>
          <a:ln w="12700">
            <a:solidFill>
              <a:srgbClr val="0e9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16"/>
          <p:cNvSpPr/>
          <p:nvPr/>
        </p:nvSpPr>
        <p:spPr>
          <a:xfrm>
            <a:off x="567000" y="254196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32448"/>
                </a:solidFill>
                <a:latin typeface="Calibri"/>
                <a:ea typeface="Calibri"/>
              </a:rPr>
              <a:t>RQ 2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17"/>
          <p:cNvSpPr/>
          <p:nvPr/>
        </p:nvSpPr>
        <p:spPr>
          <a:xfrm>
            <a:off x="1316880" y="2541960"/>
            <a:ext cx="7269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mbria"/>
                <a:ea typeface="Cambria"/>
              </a:rPr>
              <a:t>Who is legally responsible when an AI system gets it wrong?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18"/>
          <p:cNvSpPr/>
          <p:nvPr/>
        </p:nvSpPr>
        <p:spPr>
          <a:xfrm>
            <a:off x="567000" y="2944440"/>
            <a:ext cx="3977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AI audit tools sometimes produce incorrect results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19"/>
          <p:cNvSpPr/>
          <p:nvPr/>
        </p:nvSpPr>
        <p:spPr>
          <a:xfrm>
            <a:off x="4681800" y="2944440"/>
            <a:ext cx="3977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The law currently says the audit partner is responsible — but they may not even understand how the AI works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20"/>
          <p:cNvSpPr/>
          <p:nvPr/>
        </p:nvSpPr>
        <p:spPr>
          <a:xfrm>
            <a:off x="567000" y="321876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Should software vendors share legal liability?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21"/>
          <p:cNvSpPr/>
          <p:nvPr/>
        </p:nvSpPr>
        <p:spPr>
          <a:xfrm>
            <a:off x="4681800" y="321876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No regulation or court case has answered this yet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Shape 22"/>
          <p:cNvSpPr/>
          <p:nvPr/>
        </p:nvSpPr>
        <p:spPr>
          <a:xfrm>
            <a:off x="411480" y="3730680"/>
            <a:ext cx="8320680" cy="1133640"/>
          </a:xfrm>
          <a:prstGeom prst="rect">
            <a:avLst/>
          </a:prstGeom>
          <a:solidFill>
            <a:srgbClr val="0f1e3d"/>
          </a:solidFill>
          <a:ln w="1905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23"/>
          <p:cNvSpPr/>
          <p:nvPr/>
        </p:nvSpPr>
        <p:spPr>
          <a:xfrm>
            <a:off x="411480" y="3730680"/>
            <a:ext cx="72720" cy="1133640"/>
          </a:xfrm>
          <a:prstGeom prst="rect">
            <a:avLst/>
          </a:prstGeom>
          <a:solidFill>
            <a:srgbClr val="c8dafe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24"/>
          <p:cNvSpPr/>
          <p:nvPr/>
        </p:nvSpPr>
        <p:spPr>
          <a:xfrm>
            <a:off x="567000" y="3803760"/>
            <a:ext cx="639720" cy="255600"/>
          </a:xfrm>
          <a:prstGeom prst="roundRect">
            <a:avLst>
              <a:gd name="adj" fmla="val 17857"/>
            </a:avLst>
          </a:prstGeom>
          <a:solidFill>
            <a:srgbClr val="c8dafe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25"/>
          <p:cNvSpPr/>
          <p:nvPr/>
        </p:nvSpPr>
        <p:spPr>
          <a:xfrm>
            <a:off x="567000" y="3803760"/>
            <a:ext cx="63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32448"/>
                </a:solidFill>
                <a:latin typeface="Calibri"/>
                <a:ea typeface="Calibri"/>
              </a:rPr>
              <a:t>RQ 3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26"/>
          <p:cNvSpPr/>
          <p:nvPr/>
        </p:nvSpPr>
        <p:spPr>
          <a:xfrm>
            <a:off x="1316880" y="3803760"/>
            <a:ext cx="7269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mbria"/>
                <a:ea typeface="Cambria"/>
              </a:rPr>
              <a:t>Do small firms use AI differently — and does this create a quality gap?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27"/>
          <p:cNvSpPr/>
          <p:nvPr/>
        </p:nvSpPr>
        <p:spPr>
          <a:xfrm>
            <a:off x="567000" y="4206240"/>
            <a:ext cx="3977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Big Four firms spend millions on custom AI platforms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28"/>
          <p:cNvSpPr/>
          <p:nvPr/>
        </p:nvSpPr>
        <p:spPr>
          <a:xfrm>
            <a:off x="4681800" y="4206240"/>
            <a:ext cx="397728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A small firm in Birmingham cannot afford that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29"/>
          <p:cNvSpPr/>
          <p:nvPr/>
        </p:nvSpPr>
        <p:spPr>
          <a:xfrm>
            <a:off x="567000" y="448056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If small firm audits become less reliable, millions of small businesses are affected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30"/>
          <p:cNvSpPr/>
          <p:nvPr/>
        </p:nvSpPr>
        <p:spPr>
          <a:xfrm>
            <a:off x="4681800" y="4480560"/>
            <a:ext cx="39772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●  </a:t>
            </a:r>
            <a:r>
              <a:rPr b="0" lang="en-US" sz="950" spc="-1" strike="noStrike">
                <a:solidFill>
                  <a:srgbClr val="c8d8f0"/>
                </a:solidFill>
                <a:latin typeface="Calibri"/>
                <a:ea typeface="Calibri"/>
              </a:rPr>
              <a:t>This is a market fairness and public interest problem</a:t>
            </a:r>
            <a:endParaRPr b="0" lang="en-US" sz="9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411480" y="164520"/>
            <a:ext cx="2285640" cy="292320"/>
          </a:xfrm>
          <a:prstGeom prst="roundRect">
            <a:avLst>
              <a:gd name="adj" fmla="val 25000"/>
            </a:avLst>
          </a:prstGeom>
          <a:solidFill>
            <a:srgbClr val="c8dafe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11480" y="1645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3a6e"/>
                </a:solidFill>
                <a:latin typeface="Calibri"/>
                <a:ea typeface="Calibri"/>
              </a:rPr>
              <a:t>RESEARCH METHODOLOGY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090b0"/>
                </a:solidFill>
                <a:latin typeface="Calibri"/>
                <a:ea typeface="Calibri"/>
              </a:rPr>
              <a:t>8 / 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411480" y="54864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e3d"/>
                </a:solidFill>
                <a:latin typeface="Cambria"/>
                <a:ea typeface="Cambria"/>
              </a:rPr>
              <a:t>How Would We Actually Study These Questions?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411480" y="1069920"/>
            <a:ext cx="8320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n-US" sz="1100" spc="-1" strike="noStrike">
                <a:solidFill>
                  <a:srgbClr val="3a5faf"/>
                </a:solidFill>
                <a:latin typeface="Calibri"/>
                <a:ea typeface="Calibri"/>
              </a:rPr>
              <a:t>Focus: Research Question 1 — Does AI reduce professional scepticism in UK auditors?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Shape 5"/>
          <p:cNvSpPr/>
          <p:nvPr/>
        </p:nvSpPr>
        <p:spPr>
          <a:xfrm>
            <a:off x="411480" y="1463040"/>
            <a:ext cx="274284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6"/>
          <p:cNvSpPr/>
          <p:nvPr/>
        </p:nvSpPr>
        <p:spPr>
          <a:xfrm>
            <a:off x="411480" y="1463040"/>
            <a:ext cx="2742840" cy="72720"/>
          </a:xfrm>
          <a:prstGeom prst="rect">
            <a:avLst/>
          </a:prstGeom>
          <a:solidFill>
            <a:srgbClr val="3a5faf"/>
          </a:solidFill>
          <a:ln w="12700">
            <a:solidFill>
              <a:srgbClr val="3a5f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7"/>
          <p:cNvSpPr/>
          <p:nvPr/>
        </p:nvSpPr>
        <p:spPr>
          <a:xfrm>
            <a:off x="411480" y="15912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🎙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8"/>
          <p:cNvSpPr/>
          <p:nvPr/>
        </p:nvSpPr>
        <p:spPr>
          <a:xfrm>
            <a:off x="502920" y="1993320"/>
            <a:ext cx="731160" cy="237240"/>
          </a:xfrm>
          <a:prstGeom prst="roundRect">
            <a:avLst>
              <a:gd name="adj" fmla="val 19231"/>
            </a:avLst>
          </a:prstGeom>
          <a:solidFill>
            <a:srgbClr val="3a5faf"/>
          </a:solidFill>
          <a:ln w="12700">
            <a:solidFill>
              <a:srgbClr val="3a5f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 9"/>
          <p:cNvSpPr/>
          <p:nvPr/>
        </p:nvSpPr>
        <p:spPr>
          <a:xfrm>
            <a:off x="502920" y="1993320"/>
            <a:ext cx="731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Step 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0"/>
          <p:cNvSpPr/>
          <p:nvPr/>
        </p:nvSpPr>
        <p:spPr>
          <a:xfrm>
            <a:off x="521280" y="2286000"/>
            <a:ext cx="2523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Interviews with Real Auditors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 11"/>
          <p:cNvSpPr/>
          <p:nvPr/>
        </p:nvSpPr>
        <p:spPr>
          <a:xfrm>
            <a:off x="521280" y="267012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Talk to 10–15 qualified auditors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 12"/>
          <p:cNvSpPr/>
          <p:nvPr/>
        </p:nvSpPr>
        <p:spPr>
          <a:xfrm>
            <a:off x="521280" y="30632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Mix of Big Four + smaller firms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 13"/>
          <p:cNvSpPr/>
          <p:nvPr/>
        </p:nvSpPr>
        <p:spPr>
          <a:xfrm>
            <a:off x="521280" y="34563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Ask: How do you actually use AI day-to-day?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4"/>
          <p:cNvSpPr/>
          <p:nvPr/>
        </p:nvSpPr>
        <p:spPr>
          <a:xfrm>
            <a:off x="521280" y="38494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Ask: Does AI change how much you trust your own judgement?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5"/>
          <p:cNvSpPr/>
          <p:nvPr/>
        </p:nvSpPr>
        <p:spPr>
          <a:xfrm>
            <a:off x="521280" y="42429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Record and analyse their answers for themes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6"/>
          <p:cNvSpPr/>
          <p:nvPr/>
        </p:nvSpPr>
        <p:spPr>
          <a:xfrm>
            <a:off x="3172680" y="3063240"/>
            <a:ext cx="164880" cy="360"/>
          </a:xfrm>
          <a:prstGeom prst="line">
            <a:avLst/>
          </a:prstGeom>
          <a:ln w="19050">
            <a:solidFill>
              <a:srgbClr val="8090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7"/>
          <p:cNvSpPr/>
          <p:nvPr/>
        </p:nvSpPr>
        <p:spPr>
          <a:xfrm>
            <a:off x="3355920" y="1463040"/>
            <a:ext cx="274284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Shape 18"/>
          <p:cNvSpPr/>
          <p:nvPr/>
        </p:nvSpPr>
        <p:spPr>
          <a:xfrm>
            <a:off x="3355920" y="1463040"/>
            <a:ext cx="2742840" cy="72720"/>
          </a:xfrm>
          <a:prstGeom prst="rect">
            <a:avLst/>
          </a:prstGeom>
          <a:solidFill>
            <a:srgbClr val="0e9a8a"/>
          </a:solidFill>
          <a:ln w="12700">
            <a:solidFill>
              <a:srgbClr val="0e9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 19"/>
          <p:cNvSpPr/>
          <p:nvPr/>
        </p:nvSpPr>
        <p:spPr>
          <a:xfrm>
            <a:off x="3355920" y="15912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🧪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Shape 20"/>
          <p:cNvSpPr/>
          <p:nvPr/>
        </p:nvSpPr>
        <p:spPr>
          <a:xfrm>
            <a:off x="3447360" y="1993320"/>
            <a:ext cx="731160" cy="237240"/>
          </a:xfrm>
          <a:prstGeom prst="roundRect">
            <a:avLst>
              <a:gd name="adj" fmla="val 19231"/>
            </a:avLst>
          </a:prstGeom>
          <a:solidFill>
            <a:srgbClr val="0e9a8a"/>
          </a:solidFill>
          <a:ln w="12700">
            <a:solidFill>
              <a:srgbClr val="0e9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21"/>
          <p:cNvSpPr/>
          <p:nvPr/>
        </p:nvSpPr>
        <p:spPr>
          <a:xfrm>
            <a:off x="3447360" y="1993320"/>
            <a:ext cx="731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Step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2"/>
          <p:cNvSpPr/>
          <p:nvPr/>
        </p:nvSpPr>
        <p:spPr>
          <a:xfrm>
            <a:off x="3465720" y="2286000"/>
            <a:ext cx="2523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Test with Experiments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 23"/>
          <p:cNvSpPr/>
          <p:nvPr/>
        </p:nvSpPr>
        <p:spPr>
          <a:xfrm>
            <a:off x="3465720" y="267012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Give auditors a realistic audit scenario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 24"/>
          <p:cNvSpPr/>
          <p:nvPr/>
        </p:nvSpPr>
        <p:spPr>
          <a:xfrm>
            <a:off x="3465720" y="30632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Half see an AI-generated flag. Half do not.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25"/>
          <p:cNvSpPr/>
          <p:nvPr/>
        </p:nvSpPr>
        <p:spPr>
          <a:xfrm>
            <a:off x="3465720" y="34563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Measure: does the flag change how they think?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26"/>
          <p:cNvSpPr/>
          <p:nvPr/>
        </p:nvSpPr>
        <p:spPr>
          <a:xfrm>
            <a:off x="3465720" y="38494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Based on method from Brown-Liburd et al. (2015)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7"/>
          <p:cNvSpPr/>
          <p:nvPr/>
        </p:nvSpPr>
        <p:spPr>
          <a:xfrm>
            <a:off x="3465720" y="42429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Can use accounting students or junior auditors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8"/>
          <p:cNvSpPr/>
          <p:nvPr/>
        </p:nvSpPr>
        <p:spPr>
          <a:xfrm>
            <a:off x="6117120" y="3063240"/>
            <a:ext cx="164520" cy="360"/>
          </a:xfrm>
          <a:prstGeom prst="line">
            <a:avLst/>
          </a:prstGeom>
          <a:ln w="19050">
            <a:solidFill>
              <a:srgbClr val="8090b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9"/>
          <p:cNvSpPr/>
          <p:nvPr/>
        </p:nvSpPr>
        <p:spPr>
          <a:xfrm>
            <a:off x="6300360" y="1463040"/>
            <a:ext cx="2742840" cy="320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4f5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Shape 30"/>
          <p:cNvSpPr/>
          <p:nvPr/>
        </p:nvSpPr>
        <p:spPr>
          <a:xfrm>
            <a:off x="6300360" y="1463040"/>
            <a:ext cx="2742840" cy="72720"/>
          </a:xfrm>
          <a:prstGeom prst="rect">
            <a:avLst/>
          </a:prstGeom>
          <a:solidFill>
            <a:srgbClr val="e89b3a"/>
          </a:solidFill>
          <a:ln w="1270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1"/>
          <p:cNvSpPr/>
          <p:nvPr/>
        </p:nvSpPr>
        <p:spPr>
          <a:xfrm>
            <a:off x="6300360" y="159120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📂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Shape 32"/>
          <p:cNvSpPr/>
          <p:nvPr/>
        </p:nvSpPr>
        <p:spPr>
          <a:xfrm>
            <a:off x="6391800" y="1993320"/>
            <a:ext cx="731160" cy="237240"/>
          </a:xfrm>
          <a:prstGeom prst="roundRect">
            <a:avLst>
              <a:gd name="adj" fmla="val 19231"/>
            </a:avLst>
          </a:prstGeom>
          <a:solidFill>
            <a:srgbClr val="e89b3a"/>
          </a:solidFill>
          <a:ln w="1270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33"/>
          <p:cNvSpPr/>
          <p:nvPr/>
        </p:nvSpPr>
        <p:spPr>
          <a:xfrm>
            <a:off x="6391800" y="1993320"/>
            <a:ext cx="7311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latin typeface="Calibri"/>
                <a:ea typeface="Calibri"/>
              </a:rPr>
              <a:t>Step 3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34"/>
          <p:cNvSpPr/>
          <p:nvPr/>
        </p:nvSpPr>
        <p:spPr>
          <a:xfrm>
            <a:off x="6409800" y="2286000"/>
            <a:ext cx="2523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f1e3d"/>
                </a:solidFill>
                <a:latin typeface="Cambria"/>
                <a:ea typeface="Cambria"/>
              </a:rPr>
              <a:t>Check Public Documents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Text 35"/>
          <p:cNvSpPr/>
          <p:nvPr/>
        </p:nvSpPr>
        <p:spPr>
          <a:xfrm>
            <a:off x="6409800" y="267012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Use FRC (UK regulator) inspection reports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 36"/>
          <p:cNvSpPr/>
          <p:nvPr/>
        </p:nvSpPr>
        <p:spPr>
          <a:xfrm>
            <a:off x="6409800" y="306324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These are publicly available — no firm permission needed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 37"/>
          <p:cNvSpPr/>
          <p:nvPr/>
        </p:nvSpPr>
        <p:spPr>
          <a:xfrm>
            <a:off x="6409800" y="34563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Look for patterns in audit quality across firm types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Text 38"/>
          <p:cNvSpPr/>
          <p:nvPr/>
        </p:nvSpPr>
        <p:spPr>
          <a:xfrm>
            <a:off x="6409800" y="384948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Triangulate: does what firms say match official reports?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 39"/>
          <p:cNvSpPr/>
          <p:nvPr/>
        </p:nvSpPr>
        <p:spPr>
          <a:xfrm>
            <a:off x="6409800" y="4242960"/>
            <a:ext cx="255996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Supports and strengthens the interview findings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Shape 40"/>
          <p:cNvSpPr/>
          <p:nvPr/>
        </p:nvSpPr>
        <p:spPr>
          <a:xfrm>
            <a:off x="411480" y="4736520"/>
            <a:ext cx="8320680" cy="273960"/>
          </a:xfrm>
          <a:prstGeom prst="roundRect">
            <a:avLst>
              <a:gd name="adj" fmla="val 16667"/>
            </a:avLst>
          </a:prstGeom>
          <a:solidFill>
            <a:srgbClr val="eff5ff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Text 41"/>
          <p:cNvSpPr/>
          <p:nvPr/>
        </p:nvSpPr>
        <p:spPr>
          <a:xfrm>
            <a:off x="548640" y="47365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⏱  </a:t>
            </a:r>
            <a:r>
              <a:rPr b="0" lang="en-US" sz="850" spc="-1" strike="noStrike">
                <a:solidFill>
                  <a:srgbClr val="3a4a6b"/>
                </a:solidFill>
                <a:latin typeface="Calibri"/>
                <a:ea typeface="Calibri"/>
              </a:rPr>
              <a:t>Realistic timeline for an MRes student:  Months 1–4 = interviews  ·  Months 5–10 = experiments  ·  Months 11–18 = writing up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411480" y="164520"/>
            <a:ext cx="2285640" cy="292320"/>
          </a:xfrm>
          <a:prstGeom prst="roundRect">
            <a:avLst>
              <a:gd name="adj" fmla="val 25000"/>
            </a:avLst>
          </a:prstGeom>
          <a:solidFill>
            <a:srgbClr val="c8dafe"/>
          </a:solidFill>
          <a:ln w="12700">
            <a:solidFill>
              <a:srgbClr val="c8daf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411480" y="1645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1e3a6e"/>
                </a:solidFill>
                <a:latin typeface="Calibri"/>
                <a:ea typeface="Calibri"/>
              </a:rPr>
              <a:t>BENEFICIARIES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8090b0"/>
                </a:solidFill>
                <a:latin typeface="Calibri"/>
                <a:ea typeface="Calibri"/>
              </a:rPr>
              <a:t>9 / 10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411480" y="548640"/>
            <a:ext cx="8320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f1e3d"/>
                </a:solidFill>
                <a:latin typeface="Cambria"/>
                <a:ea typeface="Cambria"/>
              </a:rPr>
              <a:t>Who Actually Benefits if We Answer These Questions?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411480" y="1170360"/>
            <a:ext cx="2742840" cy="1755360"/>
          </a:xfrm>
          <a:prstGeom prst="roundRect">
            <a:avLst>
              <a:gd name="adj" fmla="val 3646"/>
            </a:avLst>
          </a:prstGeom>
          <a:solidFill>
            <a:srgbClr val="eff5ff"/>
          </a:solidFill>
          <a:ln w="15240">
            <a:solidFill>
              <a:srgbClr val="3a5fa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5"/>
          <p:cNvSpPr/>
          <p:nvPr/>
        </p:nvSpPr>
        <p:spPr>
          <a:xfrm>
            <a:off x="521280" y="126180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3a5faf"/>
                </a:solidFill>
                <a:latin typeface="Cambria"/>
                <a:ea typeface="Cambria"/>
              </a:rPr>
              <a:t>⚖️  </a:t>
            </a:r>
            <a:r>
              <a:rPr b="1" lang="en-US" sz="1100" spc="-1" strike="noStrike">
                <a:solidFill>
                  <a:srgbClr val="3a5faf"/>
                </a:solidFill>
                <a:latin typeface="Cambria"/>
                <a:ea typeface="Cambria"/>
              </a:rPr>
              <a:t>Standard Setters (FRC, IAASB)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521280" y="16459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They write the rules auditors must follow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521280" y="20484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They need evidence — not just opinions — to update the standards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 8"/>
          <p:cNvSpPr/>
          <p:nvPr/>
        </p:nvSpPr>
        <p:spPr>
          <a:xfrm>
            <a:off x="521280" y="24505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Research on scepticism gives them something concrete to act on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9"/>
          <p:cNvSpPr/>
          <p:nvPr/>
        </p:nvSpPr>
        <p:spPr>
          <a:xfrm>
            <a:off x="3355920" y="1170360"/>
            <a:ext cx="2742840" cy="1755360"/>
          </a:xfrm>
          <a:prstGeom prst="roundRect">
            <a:avLst>
              <a:gd name="adj" fmla="val 3646"/>
            </a:avLst>
          </a:prstGeom>
          <a:solidFill>
            <a:srgbClr val="e8f8f5"/>
          </a:solidFill>
          <a:ln w="15240">
            <a:solidFill>
              <a:srgbClr val="0e9a8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Text 10"/>
          <p:cNvSpPr/>
          <p:nvPr/>
        </p:nvSpPr>
        <p:spPr>
          <a:xfrm>
            <a:off x="3465720" y="126180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e9a8a"/>
                </a:solidFill>
                <a:latin typeface="Cambria"/>
                <a:ea typeface="Cambria"/>
              </a:rPr>
              <a:t>🏢  </a:t>
            </a:r>
            <a:r>
              <a:rPr b="1" lang="en-US" sz="1100" spc="-1" strike="noStrike">
                <a:solidFill>
                  <a:srgbClr val="0e9a8a"/>
                </a:solidFill>
                <a:latin typeface="Cambria"/>
                <a:ea typeface="Cambria"/>
              </a:rPr>
              <a:t>Audit Firms (All Sizes)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3465720" y="16459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Big Four: find out early if AI is creating hidden risks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3465720" y="20484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Smaller firms: understand whether AI tools are worth buying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Text 13"/>
          <p:cNvSpPr/>
          <p:nvPr/>
        </p:nvSpPr>
        <p:spPr>
          <a:xfrm>
            <a:off x="3465720" y="24505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All firms: protect themselves before a failure makes the news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6300360" y="3108960"/>
            <a:ext cx="2742840" cy="1755360"/>
          </a:xfrm>
          <a:prstGeom prst="roundRect">
            <a:avLst>
              <a:gd name="adj" fmla="val 3646"/>
            </a:avLst>
          </a:prstGeom>
          <a:solidFill>
            <a:srgbClr val="f3e8ff"/>
          </a:solidFill>
          <a:ln w="15240">
            <a:solidFill>
              <a:srgbClr val="7c3aed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 15"/>
          <p:cNvSpPr/>
          <p:nvPr/>
        </p:nvSpPr>
        <p:spPr>
          <a:xfrm>
            <a:off x="6409800" y="320040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7c3aed"/>
                </a:solidFill>
                <a:latin typeface="Cambria"/>
                <a:ea typeface="Cambria"/>
              </a:rPr>
              <a:t>🎓  </a:t>
            </a:r>
            <a:r>
              <a:rPr b="1" lang="en-US" sz="1100" spc="-1" strike="noStrike">
                <a:solidFill>
                  <a:srgbClr val="7c3aed"/>
                </a:solidFill>
                <a:latin typeface="Cambria"/>
                <a:ea typeface="Cambria"/>
              </a:rPr>
              <a:t>Accounting Educators &amp; Students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6409800" y="35845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If AI changes what auditors do — the curriculum must change too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6409800" y="39866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Should students learn how to evaluate AI outputs?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8"/>
          <p:cNvSpPr/>
          <p:nvPr/>
        </p:nvSpPr>
        <p:spPr>
          <a:xfrm>
            <a:off x="6409800" y="43891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This research would show what skills actually matter in practice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19"/>
          <p:cNvSpPr/>
          <p:nvPr/>
        </p:nvSpPr>
        <p:spPr>
          <a:xfrm>
            <a:off x="411480" y="3108960"/>
            <a:ext cx="2742840" cy="1755360"/>
          </a:xfrm>
          <a:prstGeom prst="roundRect">
            <a:avLst>
              <a:gd name="adj" fmla="val 3646"/>
            </a:avLst>
          </a:prstGeom>
          <a:solidFill>
            <a:srgbClr val="fff4e5"/>
          </a:solidFill>
          <a:ln w="15240">
            <a:solidFill>
              <a:srgbClr val="e89b3a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Text 20"/>
          <p:cNvSpPr/>
          <p:nvPr/>
        </p:nvSpPr>
        <p:spPr>
          <a:xfrm>
            <a:off x="521280" y="320040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e89b3a"/>
                </a:solidFill>
                <a:latin typeface="Cambria"/>
                <a:ea typeface="Cambria"/>
              </a:rPr>
              <a:t>💻  </a:t>
            </a:r>
            <a:r>
              <a:rPr b="1" lang="en-US" sz="1100" spc="-1" strike="noStrike">
                <a:solidFill>
                  <a:srgbClr val="e89b3a"/>
                </a:solidFill>
                <a:latin typeface="Cambria"/>
                <a:ea typeface="Cambria"/>
              </a:rPr>
              <a:t>Audit Software Companies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521280" y="35845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Companies building AI for mid-tier firms need user feedback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521280" y="39866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Research shows how auditors actually behave with their tools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3"/>
          <p:cNvSpPr/>
          <p:nvPr/>
        </p:nvSpPr>
        <p:spPr>
          <a:xfrm>
            <a:off x="521280" y="438912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Helps them build products that support — not replace — judgement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Shape 24"/>
          <p:cNvSpPr/>
          <p:nvPr/>
        </p:nvSpPr>
        <p:spPr>
          <a:xfrm>
            <a:off x="3200760" y="3200400"/>
            <a:ext cx="2742840" cy="1755360"/>
          </a:xfrm>
          <a:prstGeom prst="roundRect">
            <a:avLst>
              <a:gd name="adj" fmla="val 3646"/>
            </a:avLst>
          </a:prstGeom>
          <a:solidFill>
            <a:srgbClr val="fff0ee"/>
          </a:solidFill>
          <a:ln w="15240">
            <a:solidFill>
              <a:srgbClr val="c0392b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25"/>
          <p:cNvSpPr/>
          <p:nvPr/>
        </p:nvSpPr>
        <p:spPr>
          <a:xfrm>
            <a:off x="3200400" y="320040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c0392b"/>
                </a:solidFill>
                <a:latin typeface="Cambria"/>
                <a:ea typeface="Cambria"/>
              </a:rPr>
              <a:t>🏛️  </a:t>
            </a:r>
            <a:r>
              <a:rPr b="1" lang="en-US" sz="1100" spc="-1" strike="noStrike">
                <a:solidFill>
                  <a:srgbClr val="c0392b"/>
                </a:solidFill>
                <a:latin typeface="Cambria"/>
                <a:ea typeface="Cambria"/>
              </a:rPr>
              <a:t>Regulators &amp; Government (PCAOB, FCA)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Text 26"/>
          <p:cNvSpPr/>
          <p:nvPr/>
        </p:nvSpPr>
        <p:spPr>
          <a:xfrm>
            <a:off x="3200400" y="35474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Regulators inspect audit quality but lack evidence on AI impact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27"/>
          <p:cNvSpPr/>
          <p:nvPr/>
        </p:nvSpPr>
        <p:spPr>
          <a:xfrm>
            <a:off x="3200760" y="38862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Research findings could shape inspection criteria for AI-assisted audits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Text 28"/>
          <p:cNvSpPr/>
          <p:nvPr/>
        </p:nvSpPr>
        <p:spPr>
          <a:xfrm>
            <a:off x="3200400" y="42516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Protects the public interest if audit quality is declining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9"/>
          <p:cNvSpPr/>
          <p:nvPr/>
        </p:nvSpPr>
        <p:spPr>
          <a:xfrm>
            <a:off x="6172560" y="1216440"/>
            <a:ext cx="2742840" cy="1755360"/>
          </a:xfrm>
          <a:prstGeom prst="roundRect">
            <a:avLst>
              <a:gd name="adj" fmla="val 3646"/>
            </a:avLst>
          </a:prstGeom>
          <a:solidFill>
            <a:srgbClr val="f0f4ff"/>
          </a:solidFill>
          <a:ln w="15240">
            <a:solidFill>
              <a:srgbClr val="5a7abf"/>
            </a:solidFill>
            <a:round/>
          </a:ln>
          <a:effectLst>
            <a:outerShdw algn="bl" blurRad="6336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 30"/>
          <p:cNvSpPr/>
          <p:nvPr/>
        </p:nvSpPr>
        <p:spPr>
          <a:xfrm>
            <a:off x="6172200" y="1143000"/>
            <a:ext cx="2541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5a7abf"/>
                </a:solidFill>
                <a:latin typeface="Cambria"/>
                <a:ea typeface="Cambria"/>
              </a:rPr>
              <a:t>📰  </a:t>
            </a:r>
            <a:r>
              <a:rPr b="1" lang="en-US" sz="1100" spc="-1" strike="noStrike">
                <a:solidFill>
                  <a:srgbClr val="5a7abf"/>
                </a:solidFill>
                <a:latin typeface="Cambria"/>
                <a:ea typeface="Cambria"/>
              </a:rPr>
              <a:t>General Public &amp; Companies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31"/>
          <p:cNvSpPr/>
          <p:nvPr/>
        </p:nvSpPr>
        <p:spPr>
          <a:xfrm>
            <a:off x="6172200" y="14900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Millions of small companies rely on honest audit opinions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 32"/>
          <p:cNvSpPr/>
          <p:nvPr/>
        </p:nvSpPr>
        <p:spPr>
          <a:xfrm>
            <a:off x="6172560" y="185544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If AI causes lower quality audits — investors lose money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33"/>
          <p:cNvSpPr/>
          <p:nvPr/>
        </p:nvSpPr>
        <p:spPr>
          <a:xfrm>
            <a:off x="6172200" y="22860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●  </a:t>
            </a:r>
            <a:r>
              <a:rPr b="0" lang="en-US" sz="900" spc="-1" strike="noStrike">
                <a:solidFill>
                  <a:srgbClr val="3a4a6b"/>
                </a:solidFill>
                <a:latin typeface="Calibri"/>
                <a:ea typeface="Calibri"/>
              </a:rPr>
              <a:t>Research protects people who never read academic papers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324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Shape 0"/>
          <p:cNvSpPr/>
          <p:nvPr/>
        </p:nvSpPr>
        <p:spPr>
          <a:xfrm>
            <a:off x="411480" y="164520"/>
            <a:ext cx="2285640" cy="292320"/>
          </a:xfrm>
          <a:prstGeom prst="roundRect">
            <a:avLst>
              <a:gd name="adj" fmla="val 25000"/>
            </a:avLst>
          </a:prstGeom>
          <a:solidFill>
            <a:srgbClr val="1e3a6e"/>
          </a:solidFill>
          <a:ln w="12700">
            <a:solidFill>
              <a:srgbClr val="3a5fa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411480" y="164520"/>
            <a:ext cx="2285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800" spc="-1" strike="noStrike">
                <a:solidFill>
                  <a:srgbClr val="c8dafe"/>
                </a:solidFill>
                <a:latin typeface="Calibri"/>
                <a:ea typeface="Calibri"/>
              </a:rPr>
              <a:t>SUMMARY &amp; CONCLUSION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2"/>
          <p:cNvSpPr/>
          <p:nvPr/>
        </p:nvSpPr>
        <p:spPr>
          <a:xfrm>
            <a:off x="8046720" y="4846320"/>
            <a:ext cx="9140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r>
              <a:rPr b="0" lang="en-US" sz="800" spc="-1" strike="noStrike">
                <a:solidFill>
                  <a:srgbClr val="5a7abf"/>
                </a:solidFill>
                <a:latin typeface="Calibri"/>
                <a:ea typeface="Calibri"/>
              </a:rPr>
              <a:t>10 / 10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3"/>
          <p:cNvSpPr/>
          <p:nvPr/>
        </p:nvSpPr>
        <p:spPr>
          <a:xfrm>
            <a:off x="457200" y="640080"/>
            <a:ext cx="63720" cy="2011320"/>
          </a:xfrm>
          <a:prstGeom prst="rect">
            <a:avLst/>
          </a:prstGeom>
          <a:solidFill>
            <a:srgbClr val="e89b3a"/>
          </a:solidFill>
          <a:ln w="1270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658440" y="59436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00" spc="-1" strike="noStrike">
                <a:solidFill>
                  <a:srgbClr val="ffffff"/>
                </a:solidFill>
                <a:latin typeface="Cambria"/>
                <a:ea typeface="Cambria"/>
              </a:rPr>
              <a:t>So — What Have We Learned?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5"/>
          <p:cNvSpPr/>
          <p:nvPr/>
        </p:nvSpPr>
        <p:spPr>
          <a:xfrm>
            <a:off x="658440" y="120708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c8dafe"/>
                </a:solidFill>
                <a:latin typeface="Calibri"/>
                <a:ea typeface="Calibri"/>
              </a:rPr>
              <a:t>Here are the 5 things to take away from this presentation: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6"/>
          <p:cNvSpPr/>
          <p:nvPr/>
        </p:nvSpPr>
        <p:spPr>
          <a:xfrm>
            <a:off x="475560" y="1719000"/>
            <a:ext cx="292320" cy="292320"/>
          </a:xfrm>
          <a:prstGeom prst="ellipse">
            <a:avLst/>
          </a:prstGeom>
          <a:solidFill>
            <a:srgbClr val="1e3a6e"/>
          </a:solidFill>
          <a:ln w="1905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7"/>
          <p:cNvSpPr/>
          <p:nvPr/>
        </p:nvSpPr>
        <p:spPr>
          <a:xfrm>
            <a:off x="475560" y="1719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9b3a"/>
                </a:solidFill>
                <a:latin typeface="Calibri"/>
                <a:ea typeface="Calibri"/>
              </a:rPr>
              <a:t>1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8"/>
          <p:cNvSpPr/>
          <p:nvPr/>
        </p:nvSpPr>
        <p:spPr>
          <a:xfrm>
            <a:off x="877680" y="164592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🤖  </a:t>
            </a: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AI is already being used in live audits by the Big Four — this is not a future topic, it is happening now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9"/>
          <p:cNvSpPr/>
          <p:nvPr/>
        </p:nvSpPr>
        <p:spPr>
          <a:xfrm>
            <a:off x="475560" y="2359080"/>
            <a:ext cx="292320" cy="292320"/>
          </a:xfrm>
          <a:prstGeom prst="ellipse">
            <a:avLst/>
          </a:prstGeom>
          <a:solidFill>
            <a:srgbClr val="1e3a6e"/>
          </a:solidFill>
          <a:ln w="1905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Text 10"/>
          <p:cNvSpPr/>
          <p:nvPr/>
        </p:nvSpPr>
        <p:spPr>
          <a:xfrm>
            <a:off x="475560" y="23590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9b3a"/>
                </a:solidFill>
                <a:latin typeface="Calibri"/>
                <a:ea typeface="Calibri"/>
              </a:rPr>
              <a:t>2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1"/>
          <p:cNvSpPr/>
          <p:nvPr/>
        </p:nvSpPr>
        <p:spPr>
          <a:xfrm>
            <a:off x="877680" y="228600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🔍  </a:t>
            </a: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AI changes auditing fundamentally — it can check 100% of data, not just a sample, which is a totally different level of assurance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Shape 12"/>
          <p:cNvSpPr/>
          <p:nvPr/>
        </p:nvSpPr>
        <p:spPr>
          <a:xfrm>
            <a:off x="475560" y="2999160"/>
            <a:ext cx="292320" cy="292320"/>
          </a:xfrm>
          <a:prstGeom prst="ellipse">
            <a:avLst/>
          </a:prstGeom>
          <a:solidFill>
            <a:srgbClr val="1e3a6e"/>
          </a:solidFill>
          <a:ln w="1905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3"/>
          <p:cNvSpPr/>
          <p:nvPr/>
        </p:nvSpPr>
        <p:spPr>
          <a:xfrm>
            <a:off x="475560" y="29991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9b3a"/>
                </a:solidFill>
                <a:latin typeface="Calibri"/>
                <a:ea typeface="Calibri"/>
              </a:rPr>
              <a:t>3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Text 14"/>
          <p:cNvSpPr/>
          <p:nvPr/>
        </p:nvSpPr>
        <p:spPr>
          <a:xfrm>
            <a:off x="877680" y="292608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⚠️  </a:t>
            </a: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There are real risks — auditors may become over-reliant on AI and lose the habit of thinking critically for themselves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15"/>
          <p:cNvSpPr/>
          <p:nvPr/>
        </p:nvSpPr>
        <p:spPr>
          <a:xfrm>
            <a:off x="475560" y="3639240"/>
            <a:ext cx="292320" cy="292320"/>
          </a:xfrm>
          <a:prstGeom prst="ellipse">
            <a:avLst/>
          </a:prstGeom>
          <a:solidFill>
            <a:srgbClr val="1e3a6e"/>
          </a:solidFill>
          <a:ln w="1905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16"/>
          <p:cNvSpPr/>
          <p:nvPr/>
        </p:nvSpPr>
        <p:spPr>
          <a:xfrm>
            <a:off x="475560" y="36392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9b3a"/>
                </a:solidFill>
                <a:latin typeface="Calibri"/>
                <a:ea typeface="Calibri"/>
              </a:rPr>
              <a:t>4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Text 17"/>
          <p:cNvSpPr/>
          <p:nvPr/>
        </p:nvSpPr>
        <p:spPr>
          <a:xfrm>
            <a:off x="877680" y="356616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❓  </a:t>
            </a: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Three big questions are still unanswered: scepticism, legal liability, and whether small firms are being left behind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Shape 18"/>
          <p:cNvSpPr/>
          <p:nvPr/>
        </p:nvSpPr>
        <p:spPr>
          <a:xfrm>
            <a:off x="475560" y="4279320"/>
            <a:ext cx="292320" cy="292320"/>
          </a:xfrm>
          <a:prstGeom prst="ellipse">
            <a:avLst/>
          </a:prstGeom>
          <a:solidFill>
            <a:srgbClr val="1e3a6e"/>
          </a:solidFill>
          <a:ln w="19050">
            <a:solidFill>
              <a:srgbClr val="e89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Text 19"/>
          <p:cNvSpPr/>
          <p:nvPr/>
        </p:nvSpPr>
        <p:spPr>
          <a:xfrm>
            <a:off x="475560" y="42793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9b3a"/>
                </a:solidFill>
                <a:latin typeface="Calibri"/>
                <a:ea typeface="Calibri"/>
              </a:rPr>
              <a:t>5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Text 20"/>
          <p:cNvSpPr/>
          <p:nvPr/>
        </p:nvSpPr>
        <p:spPr>
          <a:xfrm>
            <a:off x="877680" y="4206240"/>
            <a:ext cx="7863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📖  </a:t>
            </a:r>
            <a:r>
              <a:rPr b="0" lang="en-US" sz="1100" spc="-1" strike="noStrike">
                <a:solidFill>
                  <a:srgbClr val="d0dff5"/>
                </a:solidFill>
                <a:latin typeface="Calibri"/>
                <a:ea typeface="Calibri"/>
              </a:rPr>
              <a:t>Good research in this area matters — standard setters, firms, educators and regulators all need evidence to make better decisions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21"/>
          <p:cNvSpPr/>
          <p:nvPr/>
        </p:nvSpPr>
        <p:spPr>
          <a:xfrm>
            <a:off x="457200" y="4800600"/>
            <a:ext cx="8229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090b0"/>
                </a:solidFill>
                <a:latin typeface="Calibri"/>
                <a:ea typeface="Calibri"/>
              </a:rPr>
              <a:t>The audit of tomorrow will involve both humans and machines. The question is: who — or what — is really in charge?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LibreOffice/7.4.7.2$Linux_X86_64 LibreOffice_project/40$Build-2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2026-05-03T07:56:56Z</dcterms:created>
  <dc:creator>PptxGenJS</dc:creator>
  <dc:description/>
  <dc:language>en-US</dc:language>
  <cp:lastModifiedBy/>
  <dcterms:modified xsi:type="dcterms:W3CDTF">2026-05-03T18:54:24Z</dcterms:modified>
  <cp:revision>2</cp:revision>
  <dc:subject>PptxGenJS Presentation</dc:subject>
  <dc:title>AI in Auditing – Classroom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